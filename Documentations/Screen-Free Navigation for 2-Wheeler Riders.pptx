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3"/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8229600" cx="14630400"/>
  <p:notesSz cx="8229600" cy="14630400"/>
  <p:embeddedFontLst>
    <p:embeddedFont>
      <p:font typeface="Roboto Slab"/>
      <p:regular r:id="rId18"/>
      <p:bold r:id="rId19"/>
    </p:embeddedFont>
    <p:embeddedFont>
      <p:font typeface="Robo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11" Type="http://schemas.openxmlformats.org/officeDocument/2006/relationships/slide" Target="slides/slide6.xml"/><Relationship Id="rId22" Type="http://schemas.openxmlformats.org/officeDocument/2006/relationships/font" Target="fonts/Roboto-italic.fntdata"/><Relationship Id="rId10" Type="http://schemas.openxmlformats.org/officeDocument/2006/relationships/slide" Target="slides/slide5.xml"/><Relationship Id="rId21" Type="http://schemas.openxmlformats.org/officeDocument/2006/relationships/font" Target="fonts/Robo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Roboto-boldItalic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Slab-bold.fntdata"/><Relationship Id="rId6" Type="http://schemas.openxmlformats.org/officeDocument/2006/relationships/slide" Target="slides/slide1.xml"/><Relationship Id="rId18" Type="http://schemas.openxmlformats.org/officeDocument/2006/relationships/font" Target="fonts/RobotoSlab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eea965a3a_2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g3deea965a3a_2_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" name="Google Shape;76;g3deea965a3a_2_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eea965a3a_2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deea965a3a_2_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g3deea965a3a_2_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eea965a3a_2_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g3deea965a3a_2_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g3deea965a3a_2_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eea965a3a_2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deea965a3a_2_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g3deea965a3a_2_8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eea965a3a_2_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deea965a3a_2_1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g3deea965a3a_2_10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eea965a3a_2_1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deea965a3a_2_1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g3deea965a3a_2_1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eea965a3a_2_1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3deea965a3a_2_1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g3deea965a3a_2_1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eea965a3a_2_1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deea965a3a_2_1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deea965a3a_2_20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deea965a3a_2_2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deea965a3a_2_2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deea965a3a_2_2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deea965a3a_2_1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g3deea965a3a_2_1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" name="Google Shape;252;g3deea965a3a_2_17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deea965a3a_2_2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g3deea965a3a_2_2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g3deea965a3a_2_2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Relationship Id="rId4" Type="http://schemas.openxmlformats.org/officeDocument/2006/relationships/image" Target="../media/image6.png"/><Relationship Id="rId5" Type="http://schemas.openxmlformats.org/officeDocument/2006/relationships/image" Target="../media/image18.png"/><Relationship Id="rId6" Type="http://schemas.openxmlformats.org/officeDocument/2006/relationships/image" Target="../media/image8.png"/><Relationship Id="rId7" Type="http://schemas.openxmlformats.org/officeDocument/2006/relationships/image" Target="../media/image7.png"/><Relationship Id="rId8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jpg"/><Relationship Id="rId4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Relationship Id="rId4" Type="http://schemas.openxmlformats.org/officeDocument/2006/relationships/image" Target="../media/image2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12.jpg"/><Relationship Id="rId5" Type="http://schemas.openxmlformats.org/officeDocument/2006/relationships/image" Target="../media/image16.jpg"/><Relationship Id="rId6" Type="http://schemas.openxmlformats.org/officeDocument/2006/relationships/image" Target="../media/image23.jpg"/><Relationship Id="rId7" Type="http://schemas.openxmlformats.org/officeDocument/2006/relationships/image" Target="../media/image19.jpg"/><Relationship Id="rId8" Type="http://schemas.openxmlformats.org/officeDocument/2006/relationships/image" Target="../media/image1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5"/>
          <p:cNvSpPr/>
          <p:nvPr/>
        </p:nvSpPr>
        <p:spPr>
          <a:xfrm>
            <a:off x="6280190" y="979527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4450"/>
              <a:buFont typeface="Roboto Slab"/>
              <a:buNone/>
            </a:pPr>
            <a:r>
              <a:rPr b="0" i="0" lang="en-US" sz="44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Screen-Free Navigation for 2-Wheeler Riders</a:t>
            </a:r>
            <a:endParaRPr b="0" i="0" sz="4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5"/>
          <p:cNvSpPr/>
          <p:nvPr/>
        </p:nvSpPr>
        <p:spPr>
          <a:xfrm>
            <a:off x="6280190" y="2737247"/>
            <a:ext cx="75564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 wearable haptic band converting smartphone directions into tactile feedback — keeping eyes on the road and hands on the handlebars.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5"/>
          <p:cNvSpPr/>
          <p:nvPr/>
        </p:nvSpPr>
        <p:spPr>
          <a:xfrm>
            <a:off x="6280190" y="3725823"/>
            <a:ext cx="1008936" cy="426244"/>
          </a:xfrm>
          <a:prstGeom prst="roundRect">
            <a:avLst>
              <a:gd fmla="val 6386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5"/>
          <p:cNvSpPr/>
          <p:nvPr/>
        </p:nvSpPr>
        <p:spPr>
          <a:xfrm>
            <a:off x="6416278" y="3793808"/>
            <a:ext cx="736759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TEAM 50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5"/>
          <p:cNvSpPr/>
          <p:nvPr/>
        </p:nvSpPr>
        <p:spPr>
          <a:xfrm>
            <a:off x="7402473" y="3718203"/>
            <a:ext cx="3001923" cy="441484"/>
          </a:xfrm>
          <a:prstGeom prst="roundRect">
            <a:avLst>
              <a:gd fmla="val 6165" name="adj"/>
            </a:avLst>
          </a:prstGeom>
          <a:noFill/>
          <a:ln cap="flat" cmpd="sng" w="9525">
            <a:solidFill>
              <a:srgbClr val="325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25"/>
          <p:cNvSpPr/>
          <p:nvPr/>
        </p:nvSpPr>
        <p:spPr>
          <a:xfrm>
            <a:off x="7546181" y="3793808"/>
            <a:ext cx="2714506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SUPERVISOR: DR. NARENDRAN 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5"/>
          <p:cNvSpPr/>
          <p:nvPr/>
        </p:nvSpPr>
        <p:spPr>
          <a:xfrm>
            <a:off x="6280190" y="4414838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Barath Dharsan, CS23I1005  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5"/>
          <p:cNvSpPr/>
          <p:nvPr/>
        </p:nvSpPr>
        <p:spPr>
          <a:xfrm>
            <a:off x="6280190" y="5032891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Prasanna Kumar, CS23B1011 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5"/>
          <p:cNvSpPr/>
          <p:nvPr/>
        </p:nvSpPr>
        <p:spPr>
          <a:xfrm>
            <a:off x="6280190" y="5650944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Jeevan Dhananjayan, EC23B1016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25"/>
          <p:cNvSpPr/>
          <p:nvPr/>
        </p:nvSpPr>
        <p:spPr>
          <a:xfrm>
            <a:off x="6280190" y="6268998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Mohamed Asif, ME23B2012 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5"/>
          <p:cNvSpPr/>
          <p:nvPr/>
        </p:nvSpPr>
        <p:spPr>
          <a:xfrm>
            <a:off x="6280190" y="6887051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Vignesh M N S, ME23B2011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25" title="Figure2_3DRender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5975400" cy="7837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6"/>
          <p:cNvSpPr/>
          <p:nvPr/>
        </p:nvSpPr>
        <p:spPr>
          <a:xfrm>
            <a:off x="6243042" y="633413"/>
            <a:ext cx="7630716" cy="1351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05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4250"/>
              <a:buFont typeface="Roboto Slab"/>
              <a:buNone/>
            </a:pPr>
            <a:r>
              <a:rPr b="0" i="0" lang="en-US" sz="42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The Problem: Navigation That Costs Focus</a:t>
            </a:r>
            <a:endParaRPr b="0" i="0" sz="4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6"/>
          <p:cNvSpPr/>
          <p:nvPr/>
        </p:nvSpPr>
        <p:spPr>
          <a:xfrm>
            <a:off x="6243042" y="2293858"/>
            <a:ext cx="7630716" cy="1630085"/>
          </a:xfrm>
          <a:prstGeom prst="roundRect">
            <a:avLst>
              <a:gd fmla="val 8975" name="adj"/>
            </a:avLst>
          </a:prstGeom>
          <a:solidFill>
            <a:srgbClr val="FBFCFE"/>
          </a:solidFill>
          <a:ln cap="flat" cmpd="sng" w="3047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7" name="Google Shape;9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2562" y="2293858"/>
            <a:ext cx="121920" cy="163008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6"/>
          <p:cNvSpPr/>
          <p:nvPr/>
        </p:nvSpPr>
        <p:spPr>
          <a:xfrm>
            <a:off x="6581061" y="2540437"/>
            <a:ext cx="2702362" cy="337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100"/>
              <a:buFont typeface="Roboto Slab"/>
              <a:buNone/>
            </a:pPr>
            <a:r>
              <a:rPr b="0" i="0" lang="en-US" sz="2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Rider Distraction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6"/>
          <p:cNvSpPr/>
          <p:nvPr/>
        </p:nvSpPr>
        <p:spPr>
          <a:xfrm>
            <a:off x="6581061" y="3001804"/>
            <a:ext cx="7046119" cy="675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82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00"/>
              <a:buFont typeface="Roboto"/>
              <a:buNone/>
            </a:pPr>
            <a:r>
              <a:rPr b="0" i="0" lang="en-US" sz="1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Glancing at a phone while riding diverts critical attention from the road — a leading cause of urban two-wheeler accidents.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6"/>
          <p:cNvSpPr/>
          <p:nvPr/>
        </p:nvSpPr>
        <p:spPr>
          <a:xfrm>
            <a:off x="6243042" y="4129921"/>
            <a:ext cx="7630716" cy="1630085"/>
          </a:xfrm>
          <a:prstGeom prst="roundRect">
            <a:avLst>
              <a:gd fmla="val 8975" name="adj"/>
            </a:avLst>
          </a:prstGeom>
          <a:solidFill>
            <a:srgbClr val="FBFCFE"/>
          </a:solidFill>
          <a:ln cap="flat" cmpd="sng" w="3047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1" name="Google Shape;10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2562" y="4129921"/>
            <a:ext cx="121920" cy="163008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6"/>
          <p:cNvSpPr/>
          <p:nvPr/>
        </p:nvSpPr>
        <p:spPr>
          <a:xfrm>
            <a:off x="6581061" y="4376499"/>
            <a:ext cx="2842617" cy="337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100"/>
              <a:buFont typeface="Roboto Slab"/>
              <a:buNone/>
            </a:pPr>
            <a:r>
              <a:rPr b="0" i="0" lang="en-US" sz="2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Gig Economy Pressure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6"/>
          <p:cNvSpPr/>
          <p:nvPr/>
        </p:nvSpPr>
        <p:spPr>
          <a:xfrm>
            <a:off x="6581061" y="4837867"/>
            <a:ext cx="7046119" cy="675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82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00"/>
              <a:buFont typeface="Roboto"/>
              <a:buNone/>
            </a:pPr>
            <a:r>
              <a:rPr b="0" i="0" lang="en-US" sz="1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Delivery workers on platforms like Swiggy and Rapido navigate unfamiliar routes under tight deadlines, amplifying cognitive load.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6"/>
          <p:cNvSpPr/>
          <p:nvPr/>
        </p:nvSpPr>
        <p:spPr>
          <a:xfrm>
            <a:off x="6243042" y="5965984"/>
            <a:ext cx="7630716" cy="1630085"/>
          </a:xfrm>
          <a:prstGeom prst="roundRect">
            <a:avLst>
              <a:gd fmla="val 8975" name="adj"/>
            </a:avLst>
          </a:prstGeom>
          <a:solidFill>
            <a:srgbClr val="FBFCFE"/>
          </a:solidFill>
          <a:ln cap="flat" cmpd="sng" w="3047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5" name="Google Shape;10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2562" y="5965984"/>
            <a:ext cx="121920" cy="163008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6"/>
          <p:cNvSpPr/>
          <p:nvPr/>
        </p:nvSpPr>
        <p:spPr>
          <a:xfrm>
            <a:off x="6581061" y="6212562"/>
            <a:ext cx="2735937" cy="337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100"/>
              <a:buFont typeface="Roboto Slab"/>
              <a:buNone/>
            </a:pPr>
            <a:r>
              <a:rPr b="0" i="0" lang="en-US" sz="2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Information Overload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6"/>
          <p:cNvSpPr/>
          <p:nvPr/>
        </p:nvSpPr>
        <p:spPr>
          <a:xfrm>
            <a:off x="6581061" y="6673929"/>
            <a:ext cx="7046119" cy="675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82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00"/>
              <a:buFont typeface="Roboto"/>
              <a:buNone/>
            </a:pPr>
            <a:r>
              <a:rPr b="0" i="0" lang="en-US" sz="1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Static alert distances fail at high speeds, causing missed turns or last-second panic maneuvers.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26" title="6.jpe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52400"/>
            <a:ext cx="5907762" cy="7877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7"/>
          <p:cNvSpPr/>
          <p:nvPr/>
        </p:nvSpPr>
        <p:spPr>
          <a:xfrm>
            <a:off x="397850" y="634825"/>
            <a:ext cx="132243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4914"/>
              <a:buFont typeface="Roboto Slab"/>
              <a:buNone/>
            </a:pPr>
            <a:r>
              <a:rPr b="0" i="0" lang="en-US" sz="4914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Core Concept: Screen-Free Haptic Navigation</a:t>
            </a:r>
            <a:endParaRPr b="0" i="0" sz="491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7"/>
          <p:cNvSpPr/>
          <p:nvPr/>
        </p:nvSpPr>
        <p:spPr>
          <a:xfrm>
            <a:off x="226800" y="2559339"/>
            <a:ext cx="14403600" cy="9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933"/>
              <a:buFont typeface="Roboto"/>
              <a:buNone/>
            </a:pPr>
            <a:r>
              <a:rPr b="0" i="0" lang="en-US" sz="1933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 proof-of-concept wearable that intercepts smartphone navigation notifications and streams dynamic vibration patterns via Bluetooth — adapting in real time to city and highway speeds.</a:t>
            </a:r>
            <a:endParaRPr b="0" i="0" sz="19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7"/>
          <p:cNvSpPr/>
          <p:nvPr/>
        </p:nvSpPr>
        <p:spPr>
          <a:xfrm>
            <a:off x="226800" y="3862671"/>
            <a:ext cx="4634100" cy="3424200"/>
          </a:xfrm>
          <a:prstGeom prst="roundRect">
            <a:avLst>
              <a:gd fmla="val 1320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100975" lIns="100975" spcFirstLastPara="1" rIns="100975" wrap="square" tIns="100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6"/>
              <a:buFont typeface="Arial"/>
              <a:buNone/>
            </a:pPr>
            <a:r>
              <a:t/>
            </a:r>
            <a:endParaRPr b="0" i="0" sz="154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7" name="Google Shape;11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278" y="4164024"/>
            <a:ext cx="751435" cy="9040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8" name="Google Shape;11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972" y="4412541"/>
            <a:ext cx="338048" cy="40670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7"/>
          <p:cNvSpPr/>
          <p:nvPr/>
        </p:nvSpPr>
        <p:spPr>
          <a:xfrm>
            <a:off x="477278" y="5369436"/>
            <a:ext cx="3366600" cy="4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430"/>
              <a:buFont typeface="Roboto Slab"/>
              <a:buNone/>
            </a:pPr>
            <a:r>
              <a:rPr b="0" i="0" lang="en-US" sz="243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Dual-Mode Thresholds</a:t>
            </a:r>
            <a:endParaRPr b="0" i="0" sz="243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7"/>
          <p:cNvSpPr/>
          <p:nvPr/>
        </p:nvSpPr>
        <p:spPr>
          <a:xfrm>
            <a:off x="477278" y="6021023"/>
            <a:ext cx="4133100" cy="9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933"/>
              <a:buFont typeface="Roboto"/>
              <a:buNone/>
            </a:pPr>
            <a:r>
              <a:rPr b="0" i="0" lang="en-US" sz="1933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Alert distances switch automatically based on real-time GPS speed.</a:t>
            </a:r>
            <a:endParaRPr b="0" i="0" sz="19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7"/>
          <p:cNvSpPr/>
          <p:nvPr/>
        </p:nvSpPr>
        <p:spPr>
          <a:xfrm>
            <a:off x="5111457" y="3862671"/>
            <a:ext cx="4634100" cy="3424200"/>
          </a:xfrm>
          <a:prstGeom prst="roundRect">
            <a:avLst>
              <a:gd fmla="val 1320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100975" lIns="100975" spcFirstLastPara="1" rIns="100975" wrap="square" tIns="100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6"/>
              <a:buFont typeface="Arial"/>
              <a:buNone/>
            </a:pPr>
            <a:r>
              <a:t/>
            </a:r>
            <a:endParaRPr b="0" i="0" sz="154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2" name="Google Shape;12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61936" y="4164024"/>
            <a:ext cx="751435" cy="9040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3" name="Google Shape;123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68629" y="4412541"/>
            <a:ext cx="338048" cy="406708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7"/>
          <p:cNvSpPr/>
          <p:nvPr/>
        </p:nvSpPr>
        <p:spPr>
          <a:xfrm>
            <a:off x="5361936" y="5369436"/>
            <a:ext cx="3131100" cy="4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430"/>
              <a:buFont typeface="Roboto Slab"/>
              <a:buNone/>
            </a:pPr>
            <a:r>
              <a:rPr b="0" i="0" lang="en-US" sz="243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Tactile Signals</a:t>
            </a:r>
            <a:endParaRPr b="0" i="0" sz="243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7"/>
          <p:cNvSpPr/>
          <p:nvPr/>
        </p:nvSpPr>
        <p:spPr>
          <a:xfrm>
            <a:off x="5361936" y="6021023"/>
            <a:ext cx="4133100" cy="9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933"/>
              <a:buFont typeface="Roboto"/>
              <a:buNone/>
            </a:pPr>
            <a:r>
              <a:rPr b="0" i="0" lang="en-US" sz="1933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High-frequency vibrations on the left or right wrist indicate turn direction.</a:t>
            </a:r>
            <a:endParaRPr b="0" i="0" sz="19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7"/>
          <p:cNvSpPr/>
          <p:nvPr/>
        </p:nvSpPr>
        <p:spPr>
          <a:xfrm>
            <a:off x="9996124" y="3862675"/>
            <a:ext cx="4383600" cy="3424200"/>
          </a:xfrm>
          <a:prstGeom prst="roundRect">
            <a:avLst>
              <a:gd fmla="val 1320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100975" lIns="100975" spcFirstLastPara="1" rIns="100975" wrap="square" tIns="100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6"/>
              <a:buFont typeface="Arial"/>
              <a:buNone/>
            </a:pPr>
            <a:r>
              <a:t/>
            </a:r>
            <a:endParaRPr b="0" i="0" sz="154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7" name="Google Shape;127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46593" y="4164024"/>
            <a:ext cx="751435" cy="9040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8" name="Google Shape;128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53287" y="4412541"/>
            <a:ext cx="338048" cy="40670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7"/>
          <p:cNvSpPr/>
          <p:nvPr/>
        </p:nvSpPr>
        <p:spPr>
          <a:xfrm>
            <a:off x="10246593" y="5369436"/>
            <a:ext cx="3131100" cy="4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430"/>
              <a:buFont typeface="Roboto Slab"/>
              <a:buNone/>
            </a:pPr>
            <a:r>
              <a:rPr b="0" i="0" lang="en-US" sz="243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Hands-on-Bars</a:t>
            </a:r>
            <a:endParaRPr b="0" i="0" sz="243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7"/>
          <p:cNvSpPr/>
          <p:nvPr/>
        </p:nvSpPr>
        <p:spPr>
          <a:xfrm>
            <a:off x="10246593" y="6021023"/>
            <a:ext cx="4133100" cy="9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933"/>
              <a:buFont typeface="Roboto"/>
              <a:buNone/>
            </a:pPr>
            <a:r>
              <a:rPr b="0" i="0" lang="en-US" sz="1933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The rider's eyes stay on the road — phone stays locked in the pocket.</a:t>
            </a:r>
            <a:endParaRPr b="0" i="0" sz="19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8"/>
          <p:cNvSpPr/>
          <p:nvPr/>
        </p:nvSpPr>
        <p:spPr>
          <a:xfrm>
            <a:off x="956905" y="549473"/>
            <a:ext cx="4607362" cy="575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3600"/>
              <a:buFont typeface="Roboto Slab"/>
              <a:buNone/>
            </a:pPr>
            <a:r>
              <a:rPr b="0" i="0" lang="en-US" sz="3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System Architecture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7" name="Google Shape;13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6905" y="1424821"/>
            <a:ext cx="12716470" cy="5819656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8"/>
          <p:cNvSpPr/>
          <p:nvPr/>
        </p:nvSpPr>
        <p:spPr>
          <a:xfrm>
            <a:off x="10271784" y="2188800"/>
            <a:ext cx="2813026" cy="351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200"/>
              <a:buFont typeface="Roboto Slab"/>
              <a:buNone/>
            </a:pPr>
            <a:r>
              <a:rPr b="0" i="0" lang="en-US" sz="2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Flutter Front-End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8"/>
          <p:cNvSpPr/>
          <p:nvPr/>
        </p:nvSpPr>
        <p:spPr>
          <a:xfrm>
            <a:off x="10271784" y="2640447"/>
            <a:ext cx="3100579" cy="509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Intercepts notifications locally; no paid APIs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8"/>
          <p:cNvSpPr/>
          <p:nvPr/>
        </p:nvSpPr>
        <p:spPr>
          <a:xfrm>
            <a:off x="1295107" y="3974094"/>
            <a:ext cx="2813025" cy="351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200"/>
              <a:buFont typeface="Roboto Slab"/>
              <a:buNone/>
            </a:pPr>
            <a:r>
              <a:rPr b="0" i="0" lang="en-US" sz="2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Navigation Service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8"/>
          <p:cNvSpPr/>
          <p:nvPr/>
        </p:nvSpPr>
        <p:spPr>
          <a:xfrm>
            <a:off x="1257600" y="4425741"/>
            <a:ext cx="2850532" cy="7647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Computes distance, manages 8-second gap guard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8"/>
          <p:cNvSpPr/>
          <p:nvPr/>
        </p:nvSpPr>
        <p:spPr>
          <a:xfrm>
            <a:off x="10271784" y="4961779"/>
            <a:ext cx="2813026" cy="351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200"/>
              <a:buFont typeface="Roboto Slab"/>
              <a:buNone/>
            </a:pPr>
            <a:r>
              <a:rPr b="0" i="0" lang="en-US" sz="2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ESP32 Wearable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8"/>
          <p:cNvSpPr/>
          <p:nvPr/>
        </p:nvSpPr>
        <p:spPr>
          <a:xfrm>
            <a:off x="10271784" y="5413425"/>
            <a:ext cx="3100579" cy="7647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Processes Bluetooth commands and triggers LR-Vibro motors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8"/>
          <p:cNvSpPr/>
          <p:nvPr/>
        </p:nvSpPr>
        <p:spPr>
          <a:xfrm>
            <a:off x="956905" y="7174456"/>
            <a:ext cx="127164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50"/>
              <a:buFont typeface="Roboto"/>
              <a:buNone/>
            </a:pPr>
            <a:r>
              <a:rPr b="0" i="0" lang="en-US" sz="2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The system operates as a closed local loop — no cloud dependencies, no API costs, and zero latency between notification interception and wrist feedback.</a:t>
            </a:r>
            <a:endParaRPr b="0" i="0" sz="2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/>
          <p:nvPr/>
        </p:nvSpPr>
        <p:spPr>
          <a:xfrm>
            <a:off x="565725" y="392475"/>
            <a:ext cx="9453900" cy="8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4613"/>
              <a:buFont typeface="Roboto Slab"/>
              <a:buNone/>
            </a:pPr>
            <a:r>
              <a:rPr b="0" i="0" lang="en-US" sz="4613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The Dual-Mode Threshold System</a:t>
            </a:r>
            <a:endParaRPr b="0" i="0" sz="461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9"/>
          <p:cNvSpPr/>
          <p:nvPr/>
        </p:nvSpPr>
        <p:spPr>
          <a:xfrm>
            <a:off x="565725" y="1734846"/>
            <a:ext cx="135216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814"/>
              <a:buFont typeface="Roboto"/>
              <a:buNone/>
            </a:pPr>
            <a:r>
              <a:rPr b="0" i="0" lang="en-US" sz="1914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Alert distances dynamically scale with speed to ensure timely, unambiguous guidance in both urban and highway conditions.</a:t>
            </a:r>
            <a:endParaRPr b="0" i="0" sz="191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9"/>
          <p:cNvSpPr/>
          <p:nvPr/>
        </p:nvSpPr>
        <p:spPr>
          <a:xfrm>
            <a:off x="565725" y="2448586"/>
            <a:ext cx="13521600" cy="3772500"/>
          </a:xfrm>
          <a:prstGeom prst="roundRect">
            <a:avLst>
              <a:gd fmla="val 1042" name="adj"/>
            </a:avLst>
          </a:prstGeom>
          <a:noFill/>
          <a:ln cap="flat" cmpd="sng" w="987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775" lIns="94775" spcFirstLastPara="1" rIns="94775" wrap="square" tIns="94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1"/>
              <a:buFont typeface="Arial"/>
              <a:buNone/>
            </a:pPr>
            <a:r>
              <a:t/>
            </a:r>
            <a:endParaRPr b="0" i="0" sz="145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9"/>
          <p:cNvSpPr/>
          <p:nvPr/>
        </p:nvSpPr>
        <p:spPr>
          <a:xfrm>
            <a:off x="573625" y="2457386"/>
            <a:ext cx="13505700" cy="751200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4775" lIns="94775" spcFirstLastPara="1" rIns="94775" wrap="square" tIns="94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1"/>
              <a:buFont typeface="Arial"/>
              <a:buNone/>
            </a:pPr>
            <a:r>
              <a:t/>
            </a:r>
            <a:endParaRPr b="0" i="0" sz="145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9"/>
          <p:cNvSpPr/>
          <p:nvPr/>
        </p:nvSpPr>
        <p:spPr>
          <a:xfrm>
            <a:off x="809010" y="2623343"/>
            <a:ext cx="41178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814"/>
              <a:buFont typeface="Roboto"/>
              <a:buNone/>
            </a:pPr>
            <a:r>
              <a:rPr b="1" i="0" lang="en-US" sz="1814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Maneuver</a:t>
            </a:r>
            <a:endParaRPr b="0" i="0" sz="181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9"/>
          <p:cNvSpPr/>
          <p:nvPr/>
        </p:nvSpPr>
        <p:spPr>
          <a:xfrm>
            <a:off x="5404899" y="2623343"/>
            <a:ext cx="39786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814"/>
              <a:buFont typeface="Roboto"/>
              <a:buNone/>
            </a:pPr>
            <a:r>
              <a:rPr b="1" i="0" lang="en-US" sz="1814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City Mode (&lt; 60 km/h)</a:t>
            </a:r>
            <a:endParaRPr b="0" i="0" sz="181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9"/>
          <p:cNvSpPr/>
          <p:nvPr/>
        </p:nvSpPr>
        <p:spPr>
          <a:xfrm>
            <a:off x="9861680" y="2623343"/>
            <a:ext cx="3982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814"/>
              <a:buFont typeface="Roboto"/>
              <a:buNone/>
            </a:pPr>
            <a:r>
              <a:rPr b="1" i="0" lang="en-US" sz="1814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Highway Mode (≥ 60 km/h)</a:t>
            </a:r>
            <a:endParaRPr b="0" i="0" sz="181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9"/>
          <p:cNvSpPr/>
          <p:nvPr/>
        </p:nvSpPr>
        <p:spPr>
          <a:xfrm>
            <a:off x="573625" y="3208387"/>
            <a:ext cx="13505700" cy="751200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4775" lIns="94775" spcFirstLastPara="1" rIns="94775" wrap="square" tIns="94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1"/>
              <a:buFont typeface="Arial"/>
              <a:buNone/>
            </a:pPr>
            <a:r>
              <a:t/>
            </a:r>
            <a:endParaRPr b="0" i="0" sz="145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9"/>
          <p:cNvSpPr/>
          <p:nvPr/>
        </p:nvSpPr>
        <p:spPr>
          <a:xfrm>
            <a:off x="809010" y="3374345"/>
            <a:ext cx="41178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814"/>
              <a:buFont typeface="Roboto"/>
              <a:buNone/>
            </a:pPr>
            <a:r>
              <a:rPr b="0" i="0" lang="en-US" sz="1814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Turn 1 — Prep Alert</a:t>
            </a:r>
            <a:endParaRPr b="0" i="0" sz="181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9"/>
          <p:cNvSpPr/>
          <p:nvPr/>
        </p:nvSpPr>
        <p:spPr>
          <a:xfrm>
            <a:off x="5404899" y="3374345"/>
            <a:ext cx="39786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814"/>
              <a:buFont typeface="Roboto"/>
              <a:buNone/>
            </a:pPr>
            <a:r>
              <a:rPr b="0" i="0" lang="en-US" sz="1814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500 m</a:t>
            </a:r>
            <a:endParaRPr b="0" i="0" sz="181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9"/>
          <p:cNvSpPr/>
          <p:nvPr/>
        </p:nvSpPr>
        <p:spPr>
          <a:xfrm>
            <a:off x="9861680" y="3374345"/>
            <a:ext cx="3982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814"/>
              <a:buFont typeface="Roboto"/>
              <a:buNone/>
            </a:pPr>
            <a:r>
              <a:rPr b="0" i="0" lang="en-US" sz="1814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700 m</a:t>
            </a:r>
            <a:endParaRPr b="0" i="0" sz="181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9"/>
          <p:cNvSpPr/>
          <p:nvPr/>
        </p:nvSpPr>
        <p:spPr>
          <a:xfrm>
            <a:off x="573625" y="3959389"/>
            <a:ext cx="13505700" cy="751200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4775" lIns="94775" spcFirstLastPara="1" rIns="94775" wrap="square" tIns="94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1"/>
              <a:buFont typeface="Arial"/>
              <a:buNone/>
            </a:pPr>
            <a:r>
              <a:t/>
            </a:r>
            <a:endParaRPr b="0" i="0" sz="145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9"/>
          <p:cNvSpPr/>
          <p:nvPr/>
        </p:nvSpPr>
        <p:spPr>
          <a:xfrm>
            <a:off x="809010" y="4125346"/>
            <a:ext cx="41178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814"/>
              <a:buFont typeface="Roboto"/>
              <a:buNone/>
            </a:pPr>
            <a:r>
              <a:rPr b="0" i="0" lang="en-US" sz="1814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Turn 2 — Action Alert</a:t>
            </a:r>
            <a:endParaRPr b="0" i="0" sz="181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9"/>
          <p:cNvSpPr/>
          <p:nvPr/>
        </p:nvSpPr>
        <p:spPr>
          <a:xfrm>
            <a:off x="5404899" y="4125346"/>
            <a:ext cx="39786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814"/>
              <a:buFont typeface="Roboto"/>
              <a:buNone/>
            </a:pPr>
            <a:r>
              <a:rPr b="0" i="0" lang="en-US" sz="1814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250 m</a:t>
            </a:r>
            <a:endParaRPr b="0" i="0" sz="181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9"/>
          <p:cNvSpPr/>
          <p:nvPr/>
        </p:nvSpPr>
        <p:spPr>
          <a:xfrm>
            <a:off x="9861680" y="4125346"/>
            <a:ext cx="3982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814"/>
              <a:buFont typeface="Roboto"/>
              <a:buNone/>
            </a:pPr>
            <a:r>
              <a:rPr b="0" i="0" lang="en-US" sz="1814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450 m</a:t>
            </a:r>
            <a:endParaRPr b="0" i="0" sz="181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9"/>
          <p:cNvSpPr/>
          <p:nvPr/>
        </p:nvSpPr>
        <p:spPr>
          <a:xfrm>
            <a:off x="573625" y="4710390"/>
            <a:ext cx="13505700" cy="751200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4775" lIns="94775" spcFirstLastPara="1" rIns="94775" wrap="square" tIns="94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1"/>
              <a:buFont typeface="Arial"/>
              <a:buNone/>
            </a:pPr>
            <a:r>
              <a:t/>
            </a:r>
            <a:endParaRPr b="0" i="0" sz="145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9"/>
          <p:cNvSpPr/>
          <p:nvPr/>
        </p:nvSpPr>
        <p:spPr>
          <a:xfrm>
            <a:off x="809010" y="4876348"/>
            <a:ext cx="41178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814"/>
              <a:buFont typeface="Roboto"/>
              <a:buNone/>
            </a:pPr>
            <a:r>
              <a:rPr b="0" i="0" lang="en-US" sz="1814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Turn 3 — Immediate</a:t>
            </a:r>
            <a:endParaRPr b="0" i="0" sz="181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9"/>
          <p:cNvSpPr/>
          <p:nvPr/>
        </p:nvSpPr>
        <p:spPr>
          <a:xfrm>
            <a:off x="5404899" y="4876348"/>
            <a:ext cx="39786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814"/>
              <a:buFont typeface="Roboto"/>
              <a:buNone/>
            </a:pPr>
            <a:r>
              <a:rPr b="0" i="0" lang="en-US" sz="1814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100 m</a:t>
            </a:r>
            <a:endParaRPr b="0" i="0" sz="181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9"/>
          <p:cNvSpPr/>
          <p:nvPr/>
        </p:nvSpPr>
        <p:spPr>
          <a:xfrm>
            <a:off x="9861680" y="4876348"/>
            <a:ext cx="3982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814"/>
              <a:buFont typeface="Roboto"/>
              <a:buNone/>
            </a:pPr>
            <a:r>
              <a:rPr b="0" i="0" lang="en-US" sz="1814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250 m</a:t>
            </a:r>
            <a:endParaRPr b="0" i="0" sz="181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9"/>
          <p:cNvSpPr/>
          <p:nvPr/>
        </p:nvSpPr>
        <p:spPr>
          <a:xfrm>
            <a:off x="573625" y="5461391"/>
            <a:ext cx="13505700" cy="751200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4775" lIns="94775" spcFirstLastPara="1" rIns="94775" wrap="square" tIns="94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1"/>
              <a:buFont typeface="Arial"/>
              <a:buNone/>
            </a:pPr>
            <a:r>
              <a:t/>
            </a:r>
            <a:endParaRPr b="0" i="0" sz="145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9"/>
          <p:cNvSpPr/>
          <p:nvPr/>
        </p:nvSpPr>
        <p:spPr>
          <a:xfrm>
            <a:off x="809010" y="5627349"/>
            <a:ext cx="41178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814"/>
              <a:buFont typeface="Roboto"/>
              <a:buNone/>
            </a:pPr>
            <a:r>
              <a:rPr b="0" i="0" lang="en-US" sz="1814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Flyover Alerts</a:t>
            </a:r>
            <a:endParaRPr b="0" i="0" sz="181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9"/>
          <p:cNvSpPr/>
          <p:nvPr/>
        </p:nvSpPr>
        <p:spPr>
          <a:xfrm>
            <a:off x="5404899" y="5627349"/>
            <a:ext cx="39786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814"/>
              <a:buFont typeface="Roboto"/>
              <a:buNone/>
            </a:pPr>
            <a:r>
              <a:rPr b="0" i="0" lang="en-US" sz="1814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1000 m / 600 m</a:t>
            </a:r>
            <a:endParaRPr b="0" i="0" sz="181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9"/>
          <p:cNvSpPr/>
          <p:nvPr/>
        </p:nvSpPr>
        <p:spPr>
          <a:xfrm>
            <a:off x="9861680" y="5627349"/>
            <a:ext cx="3982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814"/>
              <a:buFont typeface="Roboto"/>
              <a:buNone/>
            </a:pPr>
            <a:r>
              <a:rPr b="0" i="0" lang="en-US" sz="1814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1200 m / 800 m</a:t>
            </a:r>
            <a:endParaRPr b="0" i="0" sz="181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9"/>
          <p:cNvSpPr/>
          <p:nvPr/>
        </p:nvSpPr>
        <p:spPr>
          <a:xfrm>
            <a:off x="565725" y="6515846"/>
            <a:ext cx="13521600" cy="1113300"/>
          </a:xfrm>
          <a:prstGeom prst="roundRect">
            <a:avLst>
              <a:gd fmla="val 3530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4775" lIns="94775" spcFirstLastPara="1" rIns="94775" wrap="square" tIns="94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1"/>
              <a:buFont typeface="Arial"/>
              <a:buNone/>
            </a:pPr>
            <a:r>
              <a:t/>
            </a:r>
            <a:endParaRPr b="0" i="0" sz="145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4" name="Google Shape;17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864" y="6913208"/>
            <a:ext cx="293893" cy="261929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9"/>
          <p:cNvSpPr/>
          <p:nvPr/>
        </p:nvSpPr>
        <p:spPr>
          <a:xfrm>
            <a:off x="1329896" y="6843224"/>
            <a:ext cx="125223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Roboto"/>
              <a:buNone/>
            </a:pPr>
            <a:r>
              <a:rPr b="0" i="0" lang="en-US" sz="1814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Speed mode switches automatically via GPS — no manual input required from the rider.</a:t>
            </a:r>
            <a:endParaRPr b="0" i="0" sz="181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0"/>
          <p:cNvSpPr/>
          <p:nvPr/>
        </p:nvSpPr>
        <p:spPr>
          <a:xfrm>
            <a:off x="602049" y="460050"/>
            <a:ext cx="67602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3600"/>
              <a:buFont typeface="Roboto Slab"/>
              <a:buNone/>
            </a:pPr>
            <a:r>
              <a:rPr b="0" i="0" lang="en-US" sz="39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Hardware &amp; Bill of Materials</a:t>
            </a:r>
            <a:endParaRPr b="0" i="0" sz="3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30"/>
          <p:cNvSpPr/>
          <p:nvPr/>
        </p:nvSpPr>
        <p:spPr>
          <a:xfrm>
            <a:off x="9972119" y="1205445"/>
            <a:ext cx="4220400" cy="538500"/>
          </a:xfrm>
          <a:prstGeom prst="roundRect">
            <a:avLst>
              <a:gd fmla="val 6821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151875" lIns="151875" spcFirstLastPara="1" rIns="151875" wrap="square" tIns="15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6"/>
              <a:buFont typeface="Arial"/>
              <a:buNone/>
            </a:pPr>
            <a:r>
              <a:t/>
            </a:r>
            <a:endParaRPr b="0" i="0" sz="23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0"/>
          <p:cNvSpPr/>
          <p:nvPr/>
        </p:nvSpPr>
        <p:spPr>
          <a:xfrm>
            <a:off x="10303052" y="570555"/>
            <a:ext cx="38535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3478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911"/>
              <a:buFont typeface="Roboto"/>
              <a:buNone/>
            </a:pPr>
            <a:r>
              <a:rPr b="0" i="0" lang="en-US" sz="2861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TOTAL PROTOTYPE COST: ~₹1,256</a:t>
            </a:r>
            <a:endParaRPr b="0" i="0" sz="2861" u="none" cap="none" strike="noStrike">
              <a:solidFill>
                <a:srgbClr val="15213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43478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911"/>
              <a:buFont typeface="Roboto"/>
              <a:buNone/>
            </a:pPr>
            <a:r>
              <a:t/>
            </a:r>
            <a:endParaRPr b="0" i="0" sz="2861" u="none" cap="none" strike="noStrike">
              <a:solidFill>
                <a:srgbClr val="1521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30"/>
          <p:cNvSpPr/>
          <p:nvPr/>
        </p:nvSpPr>
        <p:spPr>
          <a:xfrm>
            <a:off x="9972136" y="2055954"/>
            <a:ext cx="4361400" cy="1453800"/>
          </a:xfrm>
          <a:prstGeom prst="roundRect">
            <a:avLst>
              <a:gd fmla="val 1995" name="adj"/>
            </a:avLst>
          </a:prstGeom>
          <a:solidFill>
            <a:srgbClr val="FBFCFE"/>
          </a:solidFill>
          <a:ln cap="flat" cmpd="sng" w="2397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875" lIns="95875" spcFirstLastPara="1" rIns="95875" wrap="square" tIns="95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8"/>
              <a:buFont typeface="Arial"/>
              <a:buNone/>
            </a:pPr>
            <a:r>
              <a:t/>
            </a:r>
            <a:endParaRPr b="0" i="0" sz="146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30"/>
          <p:cNvSpPr/>
          <p:nvPr/>
        </p:nvSpPr>
        <p:spPr>
          <a:xfrm>
            <a:off x="10189291" y="2273109"/>
            <a:ext cx="24162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888"/>
              <a:buFont typeface="Roboto Slab"/>
              <a:buNone/>
            </a:pPr>
            <a:r>
              <a:rPr b="0" i="0" lang="en-US" sz="1888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Controller</a:t>
            </a:r>
            <a:endParaRPr b="0" i="0" sz="188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30"/>
          <p:cNvSpPr/>
          <p:nvPr/>
        </p:nvSpPr>
        <p:spPr>
          <a:xfrm>
            <a:off x="10189291" y="2732021"/>
            <a:ext cx="39273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521"/>
              <a:buFont typeface="Roboto"/>
              <a:buNone/>
            </a:pPr>
            <a:r>
              <a:rPr b="0" i="0" lang="en-US" sz="1521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ESP32-C3 PRO Mini — low-power Bluetooth SoC</a:t>
            </a:r>
            <a:endParaRPr b="0" i="0" sz="152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30"/>
          <p:cNvSpPr/>
          <p:nvPr/>
        </p:nvSpPr>
        <p:spPr>
          <a:xfrm>
            <a:off x="9972136" y="3666578"/>
            <a:ext cx="4361400" cy="1173300"/>
          </a:xfrm>
          <a:prstGeom prst="roundRect">
            <a:avLst>
              <a:gd fmla="val 2471" name="adj"/>
            </a:avLst>
          </a:prstGeom>
          <a:solidFill>
            <a:srgbClr val="FBFCFE"/>
          </a:solidFill>
          <a:ln cap="flat" cmpd="sng" w="2397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875" lIns="95875" spcFirstLastPara="1" rIns="95875" wrap="square" tIns="95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8"/>
              <a:buFont typeface="Arial"/>
              <a:buNone/>
            </a:pPr>
            <a:r>
              <a:t/>
            </a:r>
            <a:endParaRPr b="0" i="0" sz="146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0"/>
          <p:cNvSpPr/>
          <p:nvPr/>
        </p:nvSpPr>
        <p:spPr>
          <a:xfrm>
            <a:off x="10189291" y="3883733"/>
            <a:ext cx="24162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888"/>
              <a:buFont typeface="Roboto Slab"/>
              <a:buNone/>
            </a:pPr>
            <a:r>
              <a:rPr b="0" i="0" lang="en-US" sz="1888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Actuators</a:t>
            </a:r>
            <a:endParaRPr b="0" i="0" sz="188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30"/>
          <p:cNvSpPr/>
          <p:nvPr/>
        </p:nvSpPr>
        <p:spPr>
          <a:xfrm>
            <a:off x="10189291" y="4342645"/>
            <a:ext cx="39273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521"/>
              <a:buFont typeface="Roboto"/>
              <a:buNone/>
            </a:pPr>
            <a:r>
              <a:rPr b="0" i="0" lang="en-US" sz="1521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8 × ERM Coin Vibration Motors (3.4 mm)</a:t>
            </a:r>
            <a:endParaRPr b="0" i="0" sz="152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30"/>
          <p:cNvSpPr/>
          <p:nvPr/>
        </p:nvSpPr>
        <p:spPr>
          <a:xfrm>
            <a:off x="9972136" y="4996985"/>
            <a:ext cx="4361400" cy="1453800"/>
          </a:xfrm>
          <a:prstGeom prst="roundRect">
            <a:avLst>
              <a:gd fmla="val 1995" name="adj"/>
            </a:avLst>
          </a:prstGeom>
          <a:solidFill>
            <a:srgbClr val="FBFCFE"/>
          </a:solidFill>
          <a:ln cap="flat" cmpd="sng" w="2397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875" lIns="95875" spcFirstLastPara="1" rIns="95875" wrap="square" tIns="95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8"/>
              <a:buFont typeface="Arial"/>
              <a:buNone/>
            </a:pPr>
            <a:r>
              <a:t/>
            </a:r>
            <a:endParaRPr b="0" i="0" sz="146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30"/>
          <p:cNvSpPr/>
          <p:nvPr/>
        </p:nvSpPr>
        <p:spPr>
          <a:xfrm>
            <a:off x="10189291" y="5214140"/>
            <a:ext cx="24162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888"/>
              <a:buFont typeface="Roboto Slab"/>
              <a:buNone/>
            </a:pPr>
            <a:r>
              <a:rPr b="0" i="0" lang="en-US" sz="1888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Power</a:t>
            </a:r>
            <a:endParaRPr b="0" i="0" sz="188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0"/>
          <p:cNvSpPr/>
          <p:nvPr/>
        </p:nvSpPr>
        <p:spPr>
          <a:xfrm>
            <a:off x="10189291" y="5673052"/>
            <a:ext cx="39273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521"/>
              <a:buFont typeface="Roboto"/>
              <a:buNone/>
            </a:pPr>
            <a:r>
              <a:rPr b="0" i="0" lang="en-US" sz="1521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3.7 V 300 mAh Li-Po Battery + TP4056 Charger</a:t>
            </a:r>
            <a:endParaRPr b="0" i="0" sz="152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30"/>
          <p:cNvSpPr/>
          <p:nvPr/>
        </p:nvSpPr>
        <p:spPr>
          <a:xfrm>
            <a:off x="9972136" y="6607609"/>
            <a:ext cx="4361400" cy="1173300"/>
          </a:xfrm>
          <a:prstGeom prst="roundRect">
            <a:avLst>
              <a:gd fmla="val 2471" name="adj"/>
            </a:avLst>
          </a:prstGeom>
          <a:solidFill>
            <a:srgbClr val="FBFCFE"/>
          </a:solidFill>
          <a:ln cap="flat" cmpd="sng" w="2397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875" lIns="95875" spcFirstLastPara="1" rIns="95875" wrap="square" tIns="95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8"/>
              <a:buFont typeface="Arial"/>
              <a:buNone/>
            </a:pPr>
            <a:r>
              <a:t/>
            </a:r>
            <a:endParaRPr b="0" i="0" sz="146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0"/>
          <p:cNvSpPr/>
          <p:nvPr/>
        </p:nvSpPr>
        <p:spPr>
          <a:xfrm>
            <a:off x="10189291" y="6824764"/>
            <a:ext cx="24162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888"/>
              <a:buFont typeface="Roboto Slab"/>
              <a:buNone/>
            </a:pPr>
            <a:r>
              <a:rPr b="0" i="0" lang="en-US" sz="1888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Switching</a:t>
            </a:r>
            <a:endParaRPr b="0" i="0" sz="188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0"/>
          <p:cNvSpPr/>
          <p:nvPr/>
        </p:nvSpPr>
        <p:spPr>
          <a:xfrm>
            <a:off x="10189305" y="7262228"/>
            <a:ext cx="37443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2N2222 NPN Transistors + 1N4007 Diodes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550" y="2055954"/>
            <a:ext cx="9481564" cy="57250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1"/>
          <p:cNvSpPr/>
          <p:nvPr/>
        </p:nvSpPr>
        <p:spPr>
          <a:xfrm>
            <a:off x="627536" y="297765"/>
            <a:ext cx="584835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4450"/>
              <a:buFont typeface="Roboto Slab"/>
              <a:buNone/>
            </a:pPr>
            <a:r>
              <a:rPr b="0" i="0" lang="en-US" sz="44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User Experience Flow</a:t>
            </a:r>
            <a:endParaRPr b="0" i="0" sz="4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3" name="Google Shape;203;p31"/>
          <p:cNvPicPr preferRelativeResize="0"/>
          <p:nvPr/>
        </p:nvPicPr>
        <p:blipFill rotWithShape="1">
          <a:blip r:embed="rId3">
            <a:alphaModFix/>
          </a:blip>
          <a:srcRect b="1137" l="820" r="-820" t="8585"/>
          <a:stretch/>
        </p:blipFill>
        <p:spPr>
          <a:xfrm>
            <a:off x="842325" y="1375575"/>
            <a:ext cx="12480901" cy="6381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2"/>
          <p:cNvSpPr/>
          <p:nvPr/>
        </p:nvSpPr>
        <p:spPr>
          <a:xfrm>
            <a:off x="550000" y="330000"/>
            <a:ext cx="13530400" cy="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Hardware Design</a:t>
            </a:r>
            <a:endParaRPr/>
          </a:p>
        </p:txBody>
      </p:sp>
      <p:sp>
        <p:nvSpPr>
          <p:cNvPr id="210" name="Google Shape;210;p32"/>
          <p:cNvSpPr/>
          <p:nvPr/>
        </p:nvSpPr>
        <p:spPr>
          <a:xfrm>
            <a:off x="550000" y="1040000"/>
            <a:ext cx="13530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Circuit schematic and 3D enclosure design of the wristband haptic module</a:t>
            </a:r>
            <a:endParaRPr/>
          </a:p>
        </p:txBody>
      </p:sp>
      <p:sp>
        <p:nvSpPr>
          <p:cNvPr id="211" name="Google Shape;211;p32"/>
          <p:cNvSpPr/>
          <p:nvPr/>
        </p:nvSpPr>
        <p:spPr>
          <a:xfrm>
            <a:off x="500000" y="1480000"/>
            <a:ext cx="6500000" cy="280000"/>
          </a:xfrm>
          <a:prstGeom prst="rect">
            <a:avLst/>
          </a:prstGeom>
          <a:solidFill>
            <a:srgbClr val="126190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Fig. 1 — Circuit Schematic</a:t>
            </a:r>
            <a:endParaRPr/>
          </a:p>
        </p:txBody>
      </p:sp>
      <p:pic>
        <p:nvPicPr>
          <p:cNvPr id="212" name="Google Shape;21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000" y="1800000"/>
            <a:ext cx="6500000" cy="584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2"/>
          <p:cNvSpPr/>
          <p:nvPr/>
        </p:nvSpPr>
        <p:spPr>
          <a:xfrm>
            <a:off x="500000" y="7700000"/>
            <a:ext cx="65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ESP32-C3 Mini + ERM motor via 2N2222 transistor, 3.7V Li-Po battery with TP4056 charging</a:t>
            </a:r>
            <a:endParaRPr/>
          </a:p>
        </p:txBody>
      </p:sp>
      <p:sp>
        <p:nvSpPr>
          <p:cNvPr id="214" name="Google Shape;214;p32"/>
          <p:cNvSpPr/>
          <p:nvPr/>
        </p:nvSpPr>
        <p:spPr>
          <a:xfrm>
            <a:off x="7630400" y="1480000"/>
            <a:ext cx="6600000" cy="2800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Fig. 2 — 3D Enclosure Design</a:t>
            </a:r>
            <a:endParaRPr/>
          </a:p>
        </p:txBody>
      </p:sp>
      <p:pic>
        <p:nvPicPr>
          <p:cNvPr id="215" name="Google Shape;21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0400" y="1800000"/>
            <a:ext cx="6600000" cy="46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2"/>
          <p:cNvSpPr/>
          <p:nvPr/>
        </p:nvSpPr>
        <p:spPr>
          <a:xfrm>
            <a:off x="7630400" y="6480000"/>
            <a:ext cx="6600000" cy="5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Exploded 3D view: ventilated top cover, dual ERM motor PCB stack, and 3D-printed enclosure with velcro strap mount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3"/>
          <p:cNvSpPr/>
          <p:nvPr/>
        </p:nvSpPr>
        <p:spPr>
          <a:xfrm>
            <a:off x="550000" y="330000"/>
            <a:ext cx="13530400" cy="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Smart Nav App Interface</a:t>
            </a:r>
            <a:endParaRPr/>
          </a:p>
        </p:txBody>
      </p:sp>
      <p:sp>
        <p:nvSpPr>
          <p:cNvPr id="223" name="Google Shape;223;p33"/>
          <p:cNvSpPr/>
          <p:nvPr/>
        </p:nvSpPr>
        <p:spPr>
          <a:xfrm>
            <a:off x="550000" y="1040000"/>
            <a:ext cx="13530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Flutter-based companion app screens — Bluetooth pairing and live navigation interface</a:t>
            </a:r>
            <a:endParaRPr/>
          </a:p>
        </p:txBody>
      </p:sp>
      <p:sp>
        <p:nvSpPr>
          <p:cNvPr id="224" name="Google Shape;224;p33"/>
          <p:cNvSpPr/>
          <p:nvPr/>
        </p:nvSpPr>
        <p:spPr>
          <a:xfrm>
            <a:off x="3365000" y="1480000"/>
            <a:ext cx="3700000" cy="280000"/>
          </a:xfrm>
          <a:prstGeom prst="rect">
            <a:avLst/>
          </a:prstGeom>
          <a:solidFill>
            <a:srgbClr val="126190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Fig. 3 — Home Page</a:t>
            </a:r>
            <a:endParaRPr/>
          </a:p>
        </p:txBody>
      </p:sp>
      <p:pic>
        <p:nvPicPr>
          <p:cNvPr id="225" name="Google Shape;22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5000" y="1800000"/>
            <a:ext cx="2700000" cy="5638000"/>
          </a:xfrm>
          <a:prstGeom prst="roundRect">
            <a:avLst>
              <a:gd fmla="val 30000" name="adj"/>
            </a:avLst>
          </a:prstGeom>
          <a:noFill/>
          <a:ln cap="flat" cmpd="sng" w="25400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6" name="Google Shape;226;p33"/>
          <p:cNvSpPr/>
          <p:nvPr/>
        </p:nvSpPr>
        <p:spPr>
          <a:xfrm>
            <a:off x="3065000" y="7500000"/>
            <a:ext cx="3300000" cy="5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Bluetooth scan, permissions check, and navigation start</a:t>
            </a:r>
            <a:endParaRPr/>
          </a:p>
        </p:txBody>
      </p:sp>
      <p:sp>
        <p:nvSpPr>
          <p:cNvPr id="227" name="Google Shape;227;p33"/>
          <p:cNvSpPr/>
          <p:nvPr/>
        </p:nvSpPr>
        <p:spPr>
          <a:xfrm>
            <a:off x="7565400" y="1480000"/>
            <a:ext cx="3700000" cy="2800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Fig. 4 — Navigation View</a:t>
            </a:r>
            <a:endParaRPr/>
          </a:p>
        </p:txBody>
      </p:sp>
      <p:pic>
        <p:nvPicPr>
          <p:cNvPr id="228" name="Google Shape;228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65400" y="1800000"/>
            <a:ext cx="2700000" cy="5638000"/>
          </a:xfrm>
          <a:prstGeom prst="roundRect">
            <a:avLst>
              <a:gd fmla="val 30000" name="adj"/>
            </a:avLst>
          </a:prstGeom>
          <a:noFill/>
          <a:ln cap="flat" cmpd="sng" w="25400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9" name="Google Shape;229;p33"/>
          <p:cNvSpPr/>
          <p:nvPr/>
        </p:nvSpPr>
        <p:spPr>
          <a:xfrm>
            <a:off x="7265400" y="7500000"/>
            <a:ext cx="3300000" cy="5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Live turn direction, distance, and journey log during active navigation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4"/>
          <p:cNvSpPr/>
          <p:nvPr/>
        </p:nvSpPr>
        <p:spPr>
          <a:xfrm>
            <a:off x="550000" y="330000"/>
            <a:ext cx="13530400" cy="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Physical Prototype Gallery</a:t>
            </a:r>
            <a:endParaRPr/>
          </a:p>
        </p:txBody>
      </p:sp>
      <p:sp>
        <p:nvSpPr>
          <p:cNvPr id="235" name="Google Shape;235;p34"/>
          <p:cNvSpPr/>
          <p:nvPr/>
        </p:nvSpPr>
        <p:spPr>
          <a:xfrm>
            <a:off x="550000" y="1040000"/>
            <a:ext cx="135304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2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3D-printed wristband modules — worn and assembled breadboard proof-of-concept</a:t>
            </a:r>
            <a:endParaRPr sz="1900"/>
          </a:p>
        </p:txBody>
      </p:sp>
      <p:pic>
        <p:nvPicPr>
          <p:cNvPr id="236" name="Google Shape;23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27150" y="1450000"/>
            <a:ext cx="2246100" cy="299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4"/>
          <p:cNvSpPr/>
          <p:nvPr/>
        </p:nvSpPr>
        <p:spPr>
          <a:xfrm>
            <a:off x="5927150" y="4494800"/>
            <a:ext cx="22461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Dual bands on both wrists</a:t>
            </a:r>
            <a:endParaRPr/>
          </a:p>
        </p:txBody>
      </p:sp>
      <p:pic>
        <p:nvPicPr>
          <p:cNvPr id="238" name="Google Shape;238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8250" y="1450000"/>
            <a:ext cx="2246100" cy="299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4"/>
          <p:cNvSpPr/>
          <p:nvPr/>
        </p:nvSpPr>
        <p:spPr>
          <a:xfrm>
            <a:off x="8438250" y="4494800"/>
            <a:ext cx="22461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Single band, wrist-worn view</a:t>
            </a:r>
            <a:endParaRPr/>
          </a:p>
        </p:txBody>
      </p:sp>
      <p:pic>
        <p:nvPicPr>
          <p:cNvPr id="240" name="Google Shape;240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49350" y="1450000"/>
            <a:ext cx="2246100" cy="299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4"/>
          <p:cNvSpPr/>
          <p:nvPr/>
        </p:nvSpPr>
        <p:spPr>
          <a:xfrm>
            <a:off x="10949350" y="4494800"/>
            <a:ext cx="22461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Open casing with PCB visible</a:t>
            </a:r>
            <a:endParaRPr/>
          </a:p>
        </p:txBody>
      </p:sp>
      <p:pic>
        <p:nvPicPr>
          <p:cNvPr id="242" name="Google Shape;242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27150" y="4874800"/>
            <a:ext cx="2246100" cy="299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4"/>
          <p:cNvSpPr/>
          <p:nvPr/>
        </p:nvSpPr>
        <p:spPr>
          <a:xfrm>
            <a:off x="3681050" y="7919600"/>
            <a:ext cx="22461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Two units — top casing detail</a:t>
            </a:r>
            <a:endParaRPr/>
          </a:p>
        </p:txBody>
      </p:sp>
      <p:pic>
        <p:nvPicPr>
          <p:cNvPr id="244" name="Google Shape;244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38250" y="4874800"/>
            <a:ext cx="2246100" cy="299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4"/>
          <p:cNvSpPr/>
          <p:nvPr/>
        </p:nvSpPr>
        <p:spPr>
          <a:xfrm>
            <a:off x="6192150" y="7919600"/>
            <a:ext cx="22461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Angled view — strap assembly</a:t>
            </a:r>
            <a:endParaRPr/>
          </a:p>
        </p:txBody>
      </p:sp>
      <p:pic>
        <p:nvPicPr>
          <p:cNvPr id="246" name="Google Shape;246;p3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949350" y="4874800"/>
            <a:ext cx="2246100" cy="299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4"/>
          <p:cNvSpPr/>
          <p:nvPr/>
        </p:nvSpPr>
        <p:spPr>
          <a:xfrm>
            <a:off x="8703250" y="7919600"/>
            <a:ext cx="22461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Interior wiring and component layout</a:t>
            </a:r>
            <a:endParaRPr/>
          </a:p>
        </p:txBody>
      </p:sp>
      <p:sp>
        <p:nvSpPr>
          <p:cNvPr id="248" name="Google Shape;248;p34"/>
          <p:cNvSpPr/>
          <p:nvPr/>
        </p:nvSpPr>
        <p:spPr>
          <a:xfrm>
            <a:off x="400000" y="1450000"/>
            <a:ext cx="4450200" cy="6830100"/>
          </a:xfrm>
          <a:prstGeom prst="rect">
            <a:avLst/>
          </a:prstGeom>
          <a:solidFill>
            <a:srgbClr val="162857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2400"/>
          </a:p>
          <a:p>
            <a:pPr indent="-3683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D7DFF4"/>
              </a:buClr>
              <a:buSzPts val="2200"/>
              <a:buFont typeface="Roboto"/>
              <a:buChar char="●"/>
            </a:pPr>
            <a:r>
              <a:rPr b="0" i="0" lang="en-US" sz="2200" u="none" cap="none" strike="noStrike">
                <a:solidFill>
                  <a:srgbClr val="D7DFF4"/>
                </a:solidFill>
                <a:latin typeface="Roboto"/>
                <a:ea typeface="Roboto"/>
                <a:cs typeface="Roboto"/>
                <a:sym typeface="Roboto"/>
              </a:rPr>
              <a:t>Casing: 3D-printed PLA with velcro wrist strap</a:t>
            </a:r>
            <a:endParaRPr b="0" i="0" sz="2200" u="none" cap="none" strike="noStrike">
              <a:solidFill>
                <a:srgbClr val="D7DFF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2200">
              <a:solidFill>
                <a:srgbClr val="D7DFF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D7DFF4"/>
              </a:buClr>
              <a:buSzPts val="2200"/>
              <a:buFont typeface="Roboto"/>
              <a:buChar char="●"/>
            </a:pPr>
            <a:r>
              <a:rPr b="0" i="0" lang="en-US" sz="2200" u="none" cap="none" strike="noStrike">
                <a:solidFill>
                  <a:srgbClr val="D7DFF4"/>
                </a:solidFill>
                <a:latin typeface="Roboto"/>
                <a:ea typeface="Roboto"/>
                <a:cs typeface="Roboto"/>
                <a:sym typeface="Roboto"/>
              </a:rPr>
              <a:t>ESP32-C3 Mini + ERM motor + Li-Po battery inside each unit</a:t>
            </a:r>
            <a:endParaRPr b="0" i="0" sz="2200" u="none" cap="none" strike="noStrike">
              <a:solidFill>
                <a:srgbClr val="D7DFF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2200">
              <a:solidFill>
                <a:srgbClr val="D7DFF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D7DFF4"/>
              </a:buClr>
              <a:buSzPts val="2200"/>
              <a:buFont typeface="Roboto"/>
              <a:buChar char="●"/>
            </a:pPr>
            <a:r>
              <a:rPr b="0" i="0" lang="en-US" sz="2200" u="none" cap="none" strike="noStrike">
                <a:solidFill>
                  <a:srgbClr val="D7DFF4"/>
                </a:solidFill>
                <a:latin typeface="Roboto"/>
                <a:ea typeface="Roboto"/>
                <a:cs typeface="Roboto"/>
                <a:sym typeface="Roboto"/>
              </a:rPr>
              <a:t>Left and right wrists fitted independently for directional vibration cues</a:t>
            </a:r>
            <a:endParaRPr b="0" i="0" sz="2200" u="none" cap="none" strike="noStrike">
              <a:solidFill>
                <a:srgbClr val="D7DFF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2200">
              <a:solidFill>
                <a:srgbClr val="D7DFF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D7DFF4"/>
              </a:buClr>
              <a:buSzPts val="2200"/>
              <a:buFont typeface="Roboto"/>
              <a:buChar char="●"/>
            </a:pPr>
            <a:r>
              <a:rPr b="0" i="0" lang="en-US" sz="2200" u="none" cap="none" strike="noStrike">
                <a:solidFill>
                  <a:srgbClr val="D7DFF4"/>
                </a:solidFill>
                <a:latin typeface="Roboto"/>
                <a:ea typeface="Roboto"/>
                <a:cs typeface="Roboto"/>
                <a:sym typeface="Roboto"/>
              </a:rPr>
              <a:t>Bluetooth range tested up to 10 m with stable connectivity</a:t>
            </a: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5"/>
          <p:cNvSpPr/>
          <p:nvPr/>
        </p:nvSpPr>
        <p:spPr>
          <a:xfrm>
            <a:off x="769000" y="501656"/>
            <a:ext cx="74925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4300"/>
              <a:buFont typeface="Roboto Slab"/>
              <a:buNone/>
            </a:pPr>
            <a:r>
              <a:rPr b="0" i="0" lang="en-US" sz="43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Outcomes &amp; Future Roadmap</a:t>
            </a:r>
            <a:endParaRPr b="0" i="0" sz="4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35"/>
          <p:cNvSpPr/>
          <p:nvPr/>
        </p:nvSpPr>
        <p:spPr>
          <a:xfrm>
            <a:off x="769025" y="1901785"/>
            <a:ext cx="2746653" cy="343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150"/>
              <a:buFont typeface="Roboto Slab"/>
              <a:buNone/>
            </a:pPr>
            <a:r>
              <a:rPr b="0" i="0" lang="en-US" sz="31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Current Status</a:t>
            </a:r>
            <a:endParaRPr b="0" i="0" sz="3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5"/>
          <p:cNvSpPr/>
          <p:nvPr/>
        </p:nvSpPr>
        <p:spPr>
          <a:xfrm>
            <a:off x="768988" y="2777007"/>
            <a:ext cx="62781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00"/>
              <a:buFont typeface="Roboto"/>
              <a:buNone/>
            </a:pPr>
            <a:r>
              <a:rPr b="0" i="0" lang="en-US" sz="23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Hardware-software link successfully validated. </a:t>
            </a:r>
            <a:endParaRPr b="0" i="0" sz="2300" u="none" cap="none" strike="noStrike">
              <a:solidFill>
                <a:srgbClr val="15213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00"/>
              <a:buFont typeface="Roboto"/>
              <a:buNone/>
            </a:pPr>
            <a:r>
              <a:t/>
            </a:r>
            <a:endParaRPr sz="2300">
              <a:solidFill>
                <a:srgbClr val="15213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00"/>
              <a:buFont typeface="Roboto"/>
              <a:buNone/>
            </a:pPr>
            <a:r>
              <a:rPr b="0" i="0" lang="en-US" sz="23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The ESP32 wearable reliably receives Bluetooth commands and triggers correct vibration patterns based on live navigation data.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35"/>
          <p:cNvSpPr/>
          <p:nvPr/>
        </p:nvSpPr>
        <p:spPr>
          <a:xfrm>
            <a:off x="346288" y="6278699"/>
            <a:ext cx="7123500" cy="1038300"/>
          </a:xfrm>
          <a:prstGeom prst="roundRect">
            <a:avLst>
              <a:gd fmla="val 3602" name="adj"/>
            </a:avLst>
          </a:prstGeom>
          <a:solidFill>
            <a:srgbClr val="B6FCB8"/>
          </a:solidFill>
          <a:ln>
            <a:noFill/>
          </a:ln>
        </p:spPr>
        <p:txBody>
          <a:bodyPr anchorCtr="0" anchor="ctr" bIns="103725" lIns="103725" spcFirstLastPara="1" rIns="103725" wrap="square" tIns="103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9"/>
              <a:buFont typeface="Arial"/>
              <a:buNone/>
            </a:pPr>
            <a:r>
              <a:t/>
            </a:r>
            <a:endParaRPr b="0" i="0" sz="158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58" name="Google Shape;25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540" y="6648727"/>
            <a:ext cx="311532" cy="249252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5"/>
          <p:cNvSpPr/>
          <p:nvPr/>
        </p:nvSpPr>
        <p:spPr>
          <a:xfrm>
            <a:off x="1156323" y="6582395"/>
            <a:ext cx="60642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9"/>
              <a:buFont typeface="Roboto"/>
              <a:buNone/>
            </a:pPr>
            <a:r>
              <a:rPr b="0" i="0" lang="en-US" sz="1929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Core proof-of-concept milestone achieved.</a:t>
            </a:r>
            <a:endParaRPr b="0" i="0" sz="192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5"/>
          <p:cNvSpPr/>
          <p:nvPr/>
        </p:nvSpPr>
        <p:spPr>
          <a:xfrm>
            <a:off x="8579330" y="1765710"/>
            <a:ext cx="27468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150"/>
              <a:buFont typeface="Roboto Slab"/>
              <a:buNone/>
            </a:pPr>
            <a:r>
              <a:rPr b="0" i="0" lang="en-US" sz="3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What's Next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35"/>
          <p:cNvSpPr/>
          <p:nvPr/>
        </p:nvSpPr>
        <p:spPr>
          <a:xfrm>
            <a:off x="8103980" y="2494627"/>
            <a:ext cx="494400" cy="494400"/>
          </a:xfrm>
          <a:prstGeom prst="roundRect">
            <a:avLst>
              <a:gd fmla="val 666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35"/>
          <p:cNvSpPr/>
          <p:nvPr/>
        </p:nvSpPr>
        <p:spPr>
          <a:xfrm>
            <a:off x="8186371" y="2535823"/>
            <a:ext cx="3297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550"/>
              <a:buFont typeface="Roboto Slab"/>
              <a:buNone/>
            </a:pPr>
            <a:r>
              <a:rPr b="0" i="0" lang="en-US" sz="25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1</a:t>
            </a:r>
            <a:endParaRPr b="0" i="0" sz="2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35"/>
          <p:cNvSpPr/>
          <p:nvPr/>
        </p:nvSpPr>
        <p:spPr>
          <a:xfrm>
            <a:off x="8811092" y="2570113"/>
            <a:ext cx="27468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150"/>
              <a:buFont typeface="Roboto Slab"/>
              <a:buNone/>
            </a:pPr>
            <a:r>
              <a:rPr b="0" i="0" lang="en-US" sz="2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Miniaturization</a:t>
            </a:r>
            <a:endParaRPr b="0" i="0" sz="2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35"/>
          <p:cNvSpPr/>
          <p:nvPr/>
        </p:nvSpPr>
        <p:spPr>
          <a:xfrm>
            <a:off x="8811092" y="3126135"/>
            <a:ext cx="5571000" cy="6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00"/>
              <a:buFont typeface="Roboto"/>
              <a:buNone/>
            </a:pPr>
            <a:r>
              <a:rPr b="0" i="0" lang="en-US" sz="1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Migrate to a custom PCB for compact, robust packaging.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5"/>
          <p:cNvSpPr/>
          <p:nvPr/>
        </p:nvSpPr>
        <p:spPr>
          <a:xfrm>
            <a:off x="8103980" y="4244013"/>
            <a:ext cx="494400" cy="494400"/>
          </a:xfrm>
          <a:prstGeom prst="roundRect">
            <a:avLst>
              <a:gd fmla="val 666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5"/>
          <p:cNvSpPr/>
          <p:nvPr/>
        </p:nvSpPr>
        <p:spPr>
          <a:xfrm>
            <a:off x="8186371" y="4285208"/>
            <a:ext cx="3297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550"/>
              <a:buFont typeface="Roboto Slab"/>
              <a:buNone/>
            </a:pPr>
            <a:r>
              <a:rPr b="0" i="0" lang="en-US" sz="25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</a:t>
            </a:r>
            <a:endParaRPr b="0" i="0" sz="2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5"/>
          <p:cNvSpPr/>
          <p:nvPr/>
        </p:nvSpPr>
        <p:spPr>
          <a:xfrm>
            <a:off x="8811092" y="4319498"/>
            <a:ext cx="27468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150"/>
              <a:buFont typeface="Roboto Slab"/>
              <a:buNone/>
            </a:pPr>
            <a:r>
              <a:rPr b="0" i="0" lang="en-US" sz="2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Ergonomics</a:t>
            </a:r>
            <a:endParaRPr b="0" i="0" sz="2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5"/>
          <p:cNvSpPr/>
          <p:nvPr/>
        </p:nvSpPr>
        <p:spPr>
          <a:xfrm>
            <a:off x="8811092" y="4875520"/>
            <a:ext cx="5571000" cy="6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00"/>
              <a:buFont typeface="Roboto"/>
              <a:buNone/>
            </a:pPr>
            <a:r>
              <a:rPr b="0" i="0" lang="en-US" sz="1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Design a sleek, sweat-proof wristband form factor for all-weather use.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5"/>
          <p:cNvSpPr/>
          <p:nvPr/>
        </p:nvSpPr>
        <p:spPr>
          <a:xfrm>
            <a:off x="8103980" y="5993398"/>
            <a:ext cx="494400" cy="494400"/>
          </a:xfrm>
          <a:prstGeom prst="roundRect">
            <a:avLst>
              <a:gd fmla="val 666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35"/>
          <p:cNvSpPr/>
          <p:nvPr/>
        </p:nvSpPr>
        <p:spPr>
          <a:xfrm>
            <a:off x="8186371" y="6034593"/>
            <a:ext cx="3297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550"/>
              <a:buFont typeface="Roboto Slab"/>
              <a:buNone/>
            </a:pPr>
            <a:r>
              <a:rPr b="0" i="0" lang="en-US" sz="25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3</a:t>
            </a:r>
            <a:endParaRPr b="0" i="0" sz="2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35"/>
          <p:cNvSpPr/>
          <p:nvPr/>
        </p:nvSpPr>
        <p:spPr>
          <a:xfrm>
            <a:off x="8811092" y="6068883"/>
            <a:ext cx="27468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150"/>
              <a:buFont typeface="Roboto Slab"/>
              <a:buNone/>
            </a:pPr>
            <a:r>
              <a:rPr b="0" i="0" lang="en-US" sz="2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Field Testing</a:t>
            </a:r>
            <a:endParaRPr b="0" i="0" sz="2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5"/>
          <p:cNvSpPr/>
          <p:nvPr/>
        </p:nvSpPr>
        <p:spPr>
          <a:xfrm>
            <a:off x="8811092" y="6624905"/>
            <a:ext cx="5571000" cy="6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700"/>
              <a:buFont typeface="Roboto"/>
              <a:buNone/>
            </a:pPr>
            <a:r>
              <a:rPr b="0" i="0" lang="en-US" sz="1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Long-term trials with gig delivery partners.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6"/>
          <p:cNvSpPr/>
          <p:nvPr/>
        </p:nvSpPr>
        <p:spPr>
          <a:xfrm>
            <a:off x="161237" y="804500"/>
            <a:ext cx="96417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4807"/>
              <a:buFont typeface="Roboto Slab"/>
              <a:buNone/>
            </a:pPr>
            <a:r>
              <a:rPr b="0" i="0" lang="en-US" sz="4807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References &amp; Acknowledgements</a:t>
            </a:r>
            <a:endParaRPr b="0" i="0" sz="4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6"/>
          <p:cNvSpPr/>
          <p:nvPr/>
        </p:nvSpPr>
        <p:spPr>
          <a:xfrm>
            <a:off x="194164" y="2795408"/>
            <a:ext cx="31122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377"/>
              <a:buFont typeface="Roboto Slab"/>
              <a:buNone/>
            </a:pPr>
            <a:r>
              <a:rPr b="0" i="0" lang="en-US" sz="2377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Academic References</a:t>
            </a:r>
            <a:endParaRPr b="0" i="0" sz="23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80" name="Google Shape;28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237" y="3420907"/>
            <a:ext cx="65855" cy="265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6"/>
          <p:cNvSpPr/>
          <p:nvPr/>
        </p:nvSpPr>
        <p:spPr>
          <a:xfrm>
            <a:off x="505049" y="3453835"/>
            <a:ext cx="29091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377"/>
              <a:buFont typeface="Roboto Slab"/>
              <a:buNone/>
            </a:pPr>
            <a:r>
              <a:rPr b="0" i="0" lang="en-US" sz="2377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Kiss et al. (2018)</a:t>
            </a:r>
            <a:endParaRPr b="0" i="0" sz="23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36"/>
          <p:cNvSpPr/>
          <p:nvPr/>
        </p:nvSpPr>
        <p:spPr>
          <a:xfrm>
            <a:off x="505049" y="4081648"/>
            <a:ext cx="2909100" cy="19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891"/>
              <a:buFont typeface="Roboto"/>
              <a:buNone/>
            </a:pPr>
            <a:r>
              <a:rPr b="0" i="1" lang="en-US" sz="1891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Navigation Systems for Motorcyclists</a:t>
            </a:r>
            <a:r>
              <a:rPr b="0" i="0" lang="en-US" sz="1891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— foundational research on rider-centric navigation interfaces.</a:t>
            </a:r>
            <a:endParaRPr b="0" i="0" sz="18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83" name="Google Shape;28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87465" y="3420907"/>
            <a:ext cx="65855" cy="265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6"/>
          <p:cNvSpPr/>
          <p:nvPr/>
        </p:nvSpPr>
        <p:spPr>
          <a:xfrm>
            <a:off x="4031277" y="3453835"/>
            <a:ext cx="29091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377"/>
              <a:buFont typeface="Roboto Slab"/>
              <a:buNone/>
            </a:pPr>
            <a:r>
              <a:rPr b="0" i="0" lang="en-US" sz="2377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Asif et al. (2010)</a:t>
            </a:r>
            <a:endParaRPr b="0" i="0" sz="23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36"/>
          <p:cNvSpPr/>
          <p:nvPr/>
        </p:nvSpPr>
        <p:spPr>
          <a:xfrm>
            <a:off x="4031277" y="4081648"/>
            <a:ext cx="2909100" cy="15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891"/>
              <a:buFont typeface="Roboto"/>
              <a:buNone/>
            </a:pPr>
            <a:r>
              <a:rPr b="0" i="1" lang="en-US" sz="1891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Haptic Feedback-Based Navigation</a:t>
            </a:r>
            <a:r>
              <a:rPr b="0" i="0" lang="en-US" sz="1891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— early work establishing tactile cue paradigms for wayfinding.</a:t>
            </a:r>
            <a:endParaRPr b="0" i="0" sz="18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36"/>
          <p:cNvSpPr/>
          <p:nvPr/>
        </p:nvSpPr>
        <p:spPr>
          <a:xfrm>
            <a:off x="7369973" y="2550380"/>
            <a:ext cx="7099200" cy="3767100"/>
          </a:xfrm>
          <a:prstGeom prst="roundRect">
            <a:avLst>
              <a:gd fmla="val 976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8775" lIns="98775" spcFirstLastPara="1" rIns="98775" wrap="square" tIns="98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12"/>
              <a:buFont typeface="Arial"/>
              <a:buNone/>
            </a:pPr>
            <a:r>
              <a:t/>
            </a:r>
            <a:endParaRPr b="0" i="0" sz="151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36"/>
          <p:cNvSpPr/>
          <p:nvPr/>
        </p:nvSpPr>
        <p:spPr>
          <a:xfrm>
            <a:off x="7615002" y="2795408"/>
            <a:ext cx="3063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77"/>
              <a:buFont typeface="Roboto Slab"/>
              <a:buNone/>
            </a:pPr>
            <a:r>
              <a:rPr b="0" i="0" lang="en-US" sz="2377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Acknowledgements</a:t>
            </a:r>
            <a:endParaRPr b="0" i="0" sz="23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36"/>
          <p:cNvSpPr/>
          <p:nvPr/>
        </p:nvSpPr>
        <p:spPr>
          <a:xfrm>
            <a:off x="7615002" y="3423222"/>
            <a:ext cx="6609300" cy="11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91"/>
              <a:buFont typeface="Roboto"/>
              <a:buNone/>
            </a:pPr>
            <a:r>
              <a:rPr b="0" i="0" lang="en-US" sz="1891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Special thanks to </a:t>
            </a:r>
            <a:r>
              <a:rPr b="1" i="0" lang="en-US" sz="1891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Dr. Narendran G</a:t>
            </a:r>
            <a:r>
              <a:rPr b="0" i="0" lang="en-US" sz="1891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for his invaluable project guidance, technical insights, and continuous support throughout this research.</a:t>
            </a:r>
            <a:endParaRPr b="0" i="0" sz="18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36"/>
          <p:cNvSpPr/>
          <p:nvPr/>
        </p:nvSpPr>
        <p:spPr>
          <a:xfrm>
            <a:off x="7615002" y="4936226"/>
            <a:ext cx="6609300" cy="18000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ctr" bIns="98775" lIns="98775" spcFirstLastPara="1" rIns="98775" wrap="square" tIns="98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12"/>
              <a:buFont typeface="Arial"/>
              <a:buNone/>
            </a:pPr>
            <a:r>
              <a:t/>
            </a:r>
            <a:endParaRPr b="0" i="0" sz="151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